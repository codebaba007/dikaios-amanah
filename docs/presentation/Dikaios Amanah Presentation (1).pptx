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Sora SemiBold"/>
      <p:regular r:id="rId26"/>
      <p:bold r:id="rId27"/>
    </p:embeddedFont>
    <p:embeddedFont>
      <p:font typeface="Inter SemiBold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Sora"/>
      <p:regular r:id="rId36"/>
      <p:bold r:id="rId37"/>
    </p:embeddedFont>
    <p:embeddedFont>
      <p:font typeface="Inter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C1470A-514F-4856-9473-8CD9573CF903}">
  <a:tblStyle styleId="{80C1470A-514F-4856-9473-8CD9573CF9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italic.fntdata"/><Relationship Id="rId20" Type="http://schemas.openxmlformats.org/officeDocument/2006/relationships/slide" Target="slides/slide14.xml"/><Relationship Id="rId41" Type="http://schemas.openxmlformats.org/officeDocument/2006/relationships/font" Target="fonts/InterMedium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oraSemiBold-regular.fntdata"/><Relationship Id="rId25" Type="http://schemas.openxmlformats.org/officeDocument/2006/relationships/slide" Target="slides/slide19.xml"/><Relationship Id="rId28" Type="http://schemas.openxmlformats.org/officeDocument/2006/relationships/font" Target="fonts/InterSemiBold-regular.fntdata"/><Relationship Id="rId27" Type="http://schemas.openxmlformats.org/officeDocument/2006/relationships/font" Target="fonts/Sora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Sora-bold.fntdata"/><Relationship Id="rId14" Type="http://schemas.openxmlformats.org/officeDocument/2006/relationships/slide" Target="slides/slide8.xml"/><Relationship Id="rId36" Type="http://schemas.openxmlformats.org/officeDocument/2006/relationships/font" Target="fonts/Sora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.fntdata"/><Relationship Id="rId16" Type="http://schemas.openxmlformats.org/officeDocument/2006/relationships/slide" Target="slides/slide10.xml"/><Relationship Id="rId38" Type="http://schemas.openxmlformats.org/officeDocument/2006/relationships/font" Target="fonts/Inter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51.png"/><Relationship Id="rId5" Type="http://schemas.openxmlformats.org/officeDocument/2006/relationships/image" Target="../media/image2.jp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5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9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11" Type="http://schemas.openxmlformats.org/officeDocument/2006/relationships/image" Target="../media/image22.png"/><Relationship Id="rId10" Type="http://schemas.openxmlformats.org/officeDocument/2006/relationships/image" Target="../media/image24.png"/><Relationship Id="rId9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Relationship Id="rId8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9" Type="http://schemas.openxmlformats.org/officeDocument/2006/relationships/image" Target="../media/image3.png"/><Relationship Id="rId5" Type="http://schemas.openxmlformats.org/officeDocument/2006/relationships/image" Target="../media/image50.png"/><Relationship Id="rId6" Type="http://schemas.openxmlformats.org/officeDocument/2006/relationships/image" Target="../media/image40.png"/><Relationship Id="rId7" Type="http://schemas.openxmlformats.org/officeDocument/2006/relationships/image" Target="../media/image33.png"/><Relationship Id="rId8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image" Target="../media/image44.png"/><Relationship Id="rId7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41.png"/><Relationship Id="rId7" Type="http://schemas.openxmlformats.org/officeDocument/2006/relationships/image" Target="../media/image46.png"/><Relationship Id="rId8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47.jp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88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66750" y="762000"/>
            <a:ext cx="5400675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Dikaios </a:t>
            </a:r>
            <a:r>
              <a:rPr b="1" i="0" lang="en-US" sz="480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Amanah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66750" y="1683990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 Shariah-Compliant Musharakah-Based Micro-Investment Platform for SMEs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66750" y="25924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Inter Medium"/>
                <a:ea typeface="Inter Medium"/>
                <a:cs typeface="Inter Medium"/>
                <a:sym typeface="Inter Medium"/>
              </a:rPr>
              <a:t>Empowering Ethical Investment Through Trust, Transparency, and Technology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666750" y="4974282"/>
            <a:ext cx="5143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66750" y="5235178"/>
            <a:ext cx="5143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D7C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Mehedi Hassan Bhuiyan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6750" y="5526583"/>
            <a:ext cx="5143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Dept. of Computer Science &amp;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University of Information Technology &amp; Sciences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961257"/>
            <a:ext cx="5143500" cy="3032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1257"/>
            <a:ext cx="5143500" cy="303252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Two People.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One Shared Challenge.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5279528"/>
            <a:ext cx="10858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One needs capital. The other wants to invest ethically. </a:t>
            </a:r>
            <a:r>
              <a:rPr b="0" i="0" lang="en-US" sz="16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Technology can connect them safely.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7275" y="2351782"/>
            <a:ext cx="458057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Abdul Karim (SME)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57275" y="2791717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Owns a tailoring shop in Dhaka and wants to expand.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2351782"/>
            <a:ext cx="458057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Rahim Ahmed (Investor)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2275" y="2791717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Young software engineer seeking opportunities.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37083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390650" y="3208883"/>
            <a:ext cx="402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Needs </a:t>
            </a: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৳50,000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for new equipment.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390650" y="3673673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Cannot secure a bank loan (no collateral).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90650" y="4138463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Prefers interest-free financing.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370832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105650" y="3208883"/>
            <a:ext cx="402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Has </a:t>
            </a: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৳</a:t>
            </a:r>
            <a:r>
              <a:rPr b="1" lang="en-US" sz="1350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8000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in savings.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05650" y="3673673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Wants to invest ethically (profit-sharing).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105650" y="4138463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Cannot easily identify trustworthy SMEs.</a:t>
            </a:r>
            <a:endParaRPr/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22793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69272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415751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22793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69272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157513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92822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0" y="2049660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The Financing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Gap</a:t>
            </a: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 in Bangladesh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381750" y="2295673"/>
            <a:ext cx="5400675" cy="594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ora SemiBold"/>
                <a:ea typeface="Sora SemiBold"/>
                <a:cs typeface="Sora SemiBold"/>
                <a:sym typeface="Sora SemiBold"/>
              </a:rPr>
              <a:t>Capital exists. Businesses exist. </a:t>
            </a:r>
            <a:r>
              <a:rPr b="0" i="0" lang="en-US" sz="1950" u="none" cap="none" strike="noStrike">
                <a:solidFill>
                  <a:srgbClr val="D4AF37"/>
                </a:solidFill>
                <a:latin typeface="Sora SemiBold"/>
                <a:ea typeface="Sora SemiBold"/>
                <a:cs typeface="Sora SemiBold"/>
                <a:sym typeface="Sora SemiBold"/>
              </a:rPr>
              <a:t>Trust is missing.</a:t>
            </a:r>
            <a:endParaRPr/>
          </a:p>
        </p:txBody>
      </p:sp>
      <p:pic>
        <p:nvPicPr>
          <p:cNvPr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8750" y="2090900"/>
            <a:ext cx="3619500" cy="3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381750" y="3175545"/>
            <a:ext cx="255031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SME Challenges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096375" y="3175545"/>
            <a:ext cx="255031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Investor Challenges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715125" y="3480345"/>
            <a:ext cx="2095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Banks require collateral.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715125" y="3945135"/>
            <a:ext cx="2095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Interest-based loans limit options.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715125" y="4684216"/>
            <a:ext cx="2095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Poor visibility to investors.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429750" y="3480345"/>
            <a:ext cx="2095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Idle savings remain unused.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429750" y="4219426"/>
            <a:ext cx="2095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Few transparent halal options.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429750" y="4958506"/>
            <a:ext cx="2095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High fear of fraud.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9939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6418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0326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6375" y="349939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6375" y="423847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6375" y="4977556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745902"/>
            <a:ext cx="10858500" cy="3541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Existing Solutions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Fall Short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6750" y="5525244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No single platform provides ethical investment, SME verification, and digital auditability together.</a:t>
            </a:r>
            <a:endParaRPr/>
          </a:p>
        </p:txBody>
      </p:sp>
      <p:graphicFrame>
        <p:nvGraphicFramePr>
          <p:cNvPr id="151" name="Google Shape;151;p16"/>
          <p:cNvGraphicFramePr/>
          <p:nvPr/>
        </p:nvGraphicFramePr>
        <p:xfrm>
          <a:off x="676275" y="17554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{80C1470A-514F-4856-9473-8CD9573CF903}</a:tableStyleId>
              </a:tblPr>
              <a:tblGrid>
                <a:gridCol w="2582475"/>
                <a:gridCol w="8256975"/>
              </a:tblGrid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Sora SemiBold"/>
                          <a:ea typeface="Sora SemiBold"/>
                          <a:cs typeface="Sora SemiBold"/>
                          <a:sym typeface="Sora SemiBold"/>
                        </a:rPr>
                        <a:t>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Sora SemiBold"/>
                          <a:ea typeface="Sora SemiBold"/>
                          <a:cs typeface="Sora SemiBold"/>
                          <a:sym typeface="Sora SemiBold"/>
                        </a:rPr>
                        <a:t>Core Limitation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Banks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Require physical collateral and charge fixed interest.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Islamic Banks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Institution-driven; lacks direct connection between retail investors and SMEs.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Venture Capital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Primarily targets high-growth tech startups, ignoring traditional SMEs.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Crowdfunding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Limited strict verification, risk assessment, or structured profit-sharing.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Informal Investment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Extremely low transparency, high risk, and legal uncertainty.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16"/>
          <p:cNvSpPr/>
          <p:nvPr/>
        </p:nvSpPr>
        <p:spPr>
          <a:xfrm>
            <a:off x="676275" y="2329755"/>
            <a:ext cx="25824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258740" y="2329755"/>
            <a:ext cx="8256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76275" y="2918370"/>
            <a:ext cx="25824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258740" y="2918370"/>
            <a:ext cx="8256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76275" y="3506985"/>
            <a:ext cx="25824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258740" y="3506985"/>
            <a:ext cx="8256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76275" y="4095601"/>
            <a:ext cx="25824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3258740" y="4095601"/>
            <a:ext cx="8256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76275" y="4684216"/>
            <a:ext cx="25824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258740" y="4684216"/>
            <a:ext cx="8256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66750" y="1089868"/>
            <a:ext cx="54006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Our Solution: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Dikaios Amanah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" y="2240309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secure digital ecosystem connecting verified SMEs with retail investors through transparent, Shariah-compliant investments.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1000125" y="3444180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Ethical Financing: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Profit/loss sharing (Musharakah).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00125" y="3908970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Verified Ecosystem: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Strict SME screening &amp; KYC.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00125" y="4373760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Transparent Investment: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Clear digital dashboards.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00125" y="4838551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Technology-Driven Trust: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Blockchain audit trails.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00125" y="5303341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Secure Management: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Encrypted document storage.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46323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92802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39281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85760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32239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639567"/>
            <a:ext cx="2388840" cy="1344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9870" y="2532905"/>
            <a:ext cx="2388840" cy="1344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2991" y="4639567"/>
            <a:ext cx="2388840" cy="1344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6112" y="2532905"/>
            <a:ext cx="2388840" cy="134466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The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Business Owner</a:t>
            </a: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 Journey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66750" y="1275877"/>
            <a:ext cx="752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SMEs receive structured, transparent, and ethical financing while maintaining accountability.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666750" y="4249042"/>
            <a:ext cx="108585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17055" y="4839592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ora SemiBold"/>
                <a:ea typeface="Sora SemiBold"/>
                <a:cs typeface="Sora SemiBold"/>
                <a:sym typeface="Sora SemiBold"/>
              </a:rPr>
              <a:t>1. Verification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5144392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Registration, document upload, KYC, and rigorous admin risk assessment.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3640175" y="273293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ora SemiBold"/>
                <a:ea typeface="Sora SemiBold"/>
                <a:cs typeface="Sora SemiBold"/>
                <a:sym typeface="Sora SemiBold"/>
              </a:rPr>
              <a:t>2. Funding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3689895" y="3037730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Campaign publication and retail investors fund the approved business.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463296" y="4839592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ora SemiBold"/>
                <a:ea typeface="Sora SemiBold"/>
                <a:cs typeface="Sora SemiBold"/>
                <a:sym typeface="Sora SemiBold"/>
              </a:rPr>
              <a:t>3. Operations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513016" y="5144392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Capital utilization alongside transparent monthly progress reporting.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286417" y="273293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ora SemiBold"/>
                <a:ea typeface="Sora SemiBold"/>
                <a:cs typeface="Sora SemiBold"/>
                <a:sym typeface="Sora SemiBold"/>
              </a:rPr>
              <a:t>4. Distribution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9336137" y="3037730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Profit declaration and equitable distribution based on Musharakah.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1746870" y="414426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569990" y="414426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393111" y="414426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0216232" y="414426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The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Investor</a:t>
            </a: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 Journey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66750" y="18383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Transparent, accessible, and ethical investment backed by verified information.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1000125" y="27336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Discover: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Complete KYC and browse verified business campaigns.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000125" y="34727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Analyze: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Review risk scores, financials, and comprehensive profiles.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000125" y="4211835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Invest: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Allocate funds directly to chosen SMEs.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00125" y="4676626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Track: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Monitor portfolio performance via live dashboard.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000125" y="51414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Earn: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Receive business updates and profit distributions safely.</a:t>
            </a:r>
            <a:endParaRPr/>
          </a:p>
        </p:txBody>
      </p:sp>
      <p:pic>
        <p:nvPicPr>
          <p:cNvPr descr="image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6285"/>
            <a:ext cx="5143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7527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49180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23088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69567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160466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224087"/>
            <a:ext cx="3429000" cy="3270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224087"/>
            <a:ext cx="3429000" cy="3270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224087"/>
            <a:ext cx="3429000" cy="327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End-to-End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Workflow</a:t>
            </a:r>
            <a:endParaRPr/>
          </a:p>
        </p:txBody>
      </p:sp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566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914400" y="3471862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1. Onboarding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14400" y="3911798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Businesses and Investors register. System performs KYC and deep risk assessment before granting platform access.</a:t>
            </a:r>
            <a:endParaRPr/>
          </a:p>
        </p:txBody>
      </p:sp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9150" y="2566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4629150" y="3471862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2. Marketplace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629150" y="3911798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Approved campaigns go live. Investors fund businesses, triggering a digital Musharakah contract generation.</a:t>
            </a:r>
            <a:endParaRPr/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2566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8343900" y="3471862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3. Settlement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8343900" y="3911798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Businesses report monthly. Profits are distributed, and all critical actions are logged in the blockchain audit trail.</a:t>
            </a:r>
            <a:endParaRPr/>
          </a:p>
        </p:txBody>
      </p:sp>
      <p:pic>
        <p:nvPicPr>
          <p:cNvPr descr="image.png" id="241" name="Google Shape;24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3462" y="27098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7098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2962" y="2709862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666750" y="1336476"/>
            <a:ext cx="54006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System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Architecture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66750" y="2006947"/>
            <a:ext cx="5143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Structured Software Engineering separating concerns for security and scalability.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1000125" y="273263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Presentation Layer: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React Web Application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000125" y="319742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Application Layer: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Node/Express REST API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000125" y="366221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Core Services: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Verification, Investments, Reporting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000125" y="412700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Security Layer: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JWT, RBAC, Data Validation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000125" y="4591794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Data Layer: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PostgreSQL (Primary DB)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000125" y="5056584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Immutable Audit Layer: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Permissioned Blockchain</a:t>
            </a:r>
            <a:endParaRPr/>
          </a:p>
        </p:txBody>
      </p:sp>
      <p:pic>
        <p:nvPicPr>
          <p:cNvPr descr="image.png" id="259" name="Google Shape;25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75168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21647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8126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14605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610844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075634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426940"/>
            <a:ext cx="3429000" cy="3424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426940"/>
            <a:ext cx="3429000" cy="3424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426940"/>
            <a:ext cx="3429000" cy="342498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Security &amp;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Trust Framework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66750" y="1866900"/>
            <a:ext cx="6610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Trust is achieved through multiple layers of engineering, not a single technology.</a:t>
            </a:r>
            <a:endParaRPr/>
          </a:p>
        </p:txBody>
      </p:sp>
      <p:pic>
        <p:nvPicPr>
          <p:cNvPr descr="image.png" id="275" name="Google Shape;27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76984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914400" y="3674715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Access Control</a:t>
            </a:r>
            <a:endParaRPr/>
          </a:p>
        </p:txBody>
      </p:sp>
      <p:pic>
        <p:nvPicPr>
          <p:cNvPr descr="image.png" id="277" name="Google Shape;27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9150" y="276984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4629150" y="3674715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Data Protection</a:t>
            </a:r>
            <a:endParaRPr/>
          </a:p>
        </p:txBody>
      </p:sp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276984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8343900" y="3674715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App Security</a:t>
            </a:r>
            <a:endParaRPr/>
          </a:p>
        </p:txBody>
      </p:sp>
      <p:pic>
        <p:nvPicPr>
          <p:cNvPr descr="image.png" id="281" name="Google Shape;28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9127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1247775" y="411465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JWT Authentication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1247775" y="457944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Role-Based Access Control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1247775" y="504423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Secure Session Management</a:t>
            </a:r>
            <a:endParaRPr/>
          </a:p>
        </p:txBody>
      </p:sp>
      <p:pic>
        <p:nvPicPr>
          <p:cNvPr descr="image.png" id="285" name="Google Shape;28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5837" y="291271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4962525" y="411465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AES-256 Encryption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962525" y="457944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bcrypt Password Hashing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962525" y="504423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SHA-256 Document Hashing</a:t>
            </a:r>
            <a:endParaRPr/>
          </a:p>
        </p:txBody>
      </p:sp>
      <p:pic>
        <p:nvPicPr>
          <p:cNvPr descr="image.png" id="289" name="Google Shape;28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9127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8677275" y="411465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Input Validation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677275" y="457944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Rate Limiting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8677275" y="5044231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XSS &amp; CSRF Protection</a:t>
            </a:r>
            <a:endParaRPr/>
          </a:p>
        </p:txBody>
      </p:sp>
      <p:pic>
        <p:nvPicPr>
          <p:cNvPr descr="image.png" id="293" name="Google Shape;29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413370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459849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506328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413370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459849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506328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413370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459849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506328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4410"/>
            <a:ext cx="5143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Why a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Blockchain Audit Layer?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66750" y="1843087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Traditional databases allow record modification. We use a permissioned blockchain strictly to make critical events </a:t>
            </a: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tamper-evident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666750" y="2904083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What goes On-Chain? (Hashes)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66750" y="4622303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What stays Off-Chain? (Database/Cloud)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1000125" y="322793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Trade License &amp; NID Hashes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1000125" y="369272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Contract Timestamps &amp; Digital Signatures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000125" y="415751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Investment &amp; Profit Distribution Records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000125" y="4946153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Full documents, PII, User passwords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000125" y="5410944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Daily operational business data</a:t>
            </a:r>
            <a:endParaRPr/>
          </a:p>
        </p:txBody>
      </p:sp>
      <p:pic>
        <p:nvPicPr>
          <p:cNvPr descr="image.png" id="317" name="Google Shape;317;p23"/>
          <p:cNvPicPr preferRelativeResize="0"/>
          <p:nvPr/>
        </p:nvPicPr>
        <p:blipFill rotWithShape="1">
          <a:blip r:embed="rId5">
            <a:alphaModFix/>
          </a:blip>
          <a:srcRect b="15995" l="6441" r="6874" t="26095"/>
          <a:stretch/>
        </p:blipFill>
        <p:spPr>
          <a:xfrm>
            <a:off x="6381750" y="1954400"/>
            <a:ext cx="5143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24698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71177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17656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96520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429994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505991"/>
            <a:ext cx="10858500" cy="412983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4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Technology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Stack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1819850" y="6048848"/>
            <a:ext cx="8172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Every technology was selected based on scalability, security, maintainability, and software engineering principles.</a:t>
            </a:r>
            <a:endParaRPr/>
          </a:p>
        </p:txBody>
      </p:sp>
      <p:graphicFrame>
        <p:nvGraphicFramePr>
          <p:cNvPr id="331" name="Google Shape;331;p24"/>
          <p:cNvGraphicFramePr/>
          <p:nvPr/>
        </p:nvGraphicFramePr>
        <p:xfrm>
          <a:off x="676275" y="15155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{80C1470A-514F-4856-9473-8CD9573CF903}</a:tableStyleId>
              </a:tblPr>
              <a:tblGrid>
                <a:gridCol w="1959775"/>
                <a:gridCol w="3470675"/>
                <a:gridCol w="5409000"/>
              </a:tblGrid>
              <a:tr h="58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Sora SemiBold"/>
                          <a:ea typeface="Sora SemiBold"/>
                          <a:cs typeface="Sora SemiBold"/>
                          <a:sym typeface="Sora SemiBold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Sora SemiBold"/>
                          <a:ea typeface="Sora SemiBold"/>
                          <a:cs typeface="Sora SemiBold"/>
                          <a:sym typeface="Sora SemiBold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Sora SemiBold"/>
                          <a:ea typeface="Sora SemiBold"/>
                          <a:cs typeface="Sora SemiBold"/>
                          <a:sym typeface="Sora SemiBold"/>
                        </a:rPr>
                        <a:t>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63FF"/>
                    </a:solidFill>
                  </a:tcPr>
                </a:tc>
              </a:tr>
              <a:tr h="58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React.js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Component-based, responsive user interface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Node.js + Express.js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High-performance business logic &amp; REST APIs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ACID compliance and structured relational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Firebase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Secure cloud document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/ Auth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JWT, bcrypt, AES-256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Secure login, password hashing, encryption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Audit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Hyperledger Fabric (Simulated)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Enterprise-grade permissioned immutable audit trail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2" name="Google Shape;332;p24"/>
          <p:cNvSpPr/>
          <p:nvPr/>
        </p:nvSpPr>
        <p:spPr>
          <a:xfrm>
            <a:off x="676275" y="2089844"/>
            <a:ext cx="1959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2636043" y="2089844"/>
            <a:ext cx="34706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6106715" y="2089844"/>
            <a:ext cx="54090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676275" y="2678459"/>
            <a:ext cx="1959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2636043" y="2678459"/>
            <a:ext cx="34706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6106715" y="2678459"/>
            <a:ext cx="54090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676275" y="3267075"/>
            <a:ext cx="1959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2636043" y="3267075"/>
            <a:ext cx="34706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6106715" y="3267075"/>
            <a:ext cx="54090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676275" y="3855690"/>
            <a:ext cx="1959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2636043" y="3855690"/>
            <a:ext cx="34706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6106715" y="3855690"/>
            <a:ext cx="54090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676275" y="4444305"/>
            <a:ext cx="1959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2636043" y="4444305"/>
            <a:ext cx="34706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6106715" y="4444305"/>
            <a:ext cx="54090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676275" y="5032920"/>
            <a:ext cx="1959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2636043" y="5032920"/>
            <a:ext cx="34706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6106715" y="5032920"/>
            <a:ext cx="54090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734716"/>
            <a:ext cx="2500312" cy="2839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2812" y="2734716"/>
            <a:ext cx="2500312" cy="2839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34716"/>
            <a:ext cx="2500312" cy="2839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4937" y="2734716"/>
            <a:ext cx="2500312" cy="283993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5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Sustainable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Business Model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666750" y="2144166"/>
            <a:ext cx="9925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platform does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earn income through interest. Revenue is generated through digital platform services.</a:t>
            </a:r>
            <a:endParaRPr/>
          </a:p>
        </p:txBody>
      </p:sp>
      <p:pic>
        <p:nvPicPr>
          <p:cNvPr descr="image.png" id="361" name="Google Shape;36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07761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914400" y="3887241"/>
            <a:ext cx="21052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Service Fee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914400" y="4235797"/>
            <a:ext cx="2005012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Small administrative fee charged on successfully completed investment campaigns.</a:t>
            </a:r>
            <a:endParaRPr/>
          </a:p>
        </p:txBody>
      </p:sp>
      <p:pic>
        <p:nvPicPr>
          <p:cNvPr descr="image.png" id="364" name="Google Shape;36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0462" y="307761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5"/>
          <p:cNvSpPr txBox="1"/>
          <p:nvPr/>
        </p:nvSpPr>
        <p:spPr>
          <a:xfrm>
            <a:off x="3700462" y="3887241"/>
            <a:ext cx="21052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Premium Verif.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3700462" y="4235797"/>
            <a:ext cx="200501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Advanced verification and certification tier for larger SMEs seeking trust.</a:t>
            </a:r>
            <a:endParaRPr/>
          </a:p>
        </p:txBody>
      </p:sp>
      <p:pic>
        <p:nvPicPr>
          <p:cNvPr descr="image.png" id="367" name="Google Shape;36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307761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5"/>
          <p:cNvSpPr txBox="1"/>
          <p:nvPr/>
        </p:nvSpPr>
        <p:spPr>
          <a:xfrm>
            <a:off x="6486525" y="3887241"/>
            <a:ext cx="21052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Data Analytics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6486525" y="4235797"/>
            <a:ext cx="200501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Market insights and detailed investor engagement reports for businesses.</a:t>
            </a:r>
            <a:endParaRPr/>
          </a:p>
        </p:txBody>
      </p:sp>
      <p:pic>
        <p:nvPicPr>
          <p:cNvPr descr="image.png" id="370" name="Google Shape;3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2587" y="307761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5"/>
          <p:cNvSpPr txBox="1"/>
          <p:nvPr/>
        </p:nvSpPr>
        <p:spPr>
          <a:xfrm>
            <a:off x="9272587" y="3887241"/>
            <a:ext cx="21052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Featured Campaigns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9272587" y="4235797"/>
            <a:ext cx="200501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Promotional visibility for businesses wanting to boost their campaigns.</a:t>
            </a:r>
            <a:endParaRPr/>
          </a:p>
        </p:txBody>
      </p:sp>
      <p:pic>
        <p:nvPicPr>
          <p:cNvPr descr="image.png" id="373" name="Google Shape;37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4900" y="3220491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43337" y="322049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9400" y="322049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15462" y="3220491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783109"/>
            <a:ext cx="5143500" cy="4152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83109"/>
            <a:ext cx="5143500" cy="415260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Minimum Viable Product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(MVP)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1057275" y="2173634"/>
            <a:ext cx="458057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ora SemiBold"/>
                <a:ea typeface="Sora SemiBold"/>
                <a:cs typeface="Sora SemiBold"/>
                <a:sym typeface="Sora SemiBold"/>
              </a:rPr>
              <a:t>Core Features (Included)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6772275" y="2173634"/>
            <a:ext cx="458057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4AF37"/>
                </a:solidFill>
                <a:latin typeface="Sora SemiBold"/>
                <a:ea typeface="Sora SemiBold"/>
                <a:cs typeface="Sora SemiBold"/>
                <a:sym typeface="Sora SemiBold"/>
              </a:rPr>
              <a:t>Future Enhancements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1390650" y="2756445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User Authentication &amp; KYC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1390650" y="3221235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Investor &amp; Business Dashboards</a:t>
            </a:r>
            <a:endParaRPr/>
          </a:p>
        </p:txBody>
      </p:sp>
      <p:sp>
        <p:nvSpPr>
          <p:cNvPr id="389" name="Google Shape;389;p26"/>
          <p:cNvSpPr txBox="1"/>
          <p:nvPr/>
        </p:nvSpPr>
        <p:spPr>
          <a:xfrm>
            <a:off x="1390650" y="368602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SME Verification &amp; Risk Assessment</a:t>
            </a:r>
            <a:endParaRPr/>
          </a:p>
        </p:txBody>
      </p:sp>
      <p:sp>
        <p:nvSpPr>
          <p:cNvPr id="390" name="Google Shape;390;p26"/>
          <p:cNvSpPr txBox="1"/>
          <p:nvPr/>
        </p:nvSpPr>
        <p:spPr>
          <a:xfrm>
            <a:off x="1390650" y="415081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Musharakah Campaign Creation</a:t>
            </a:r>
            <a:endParaRPr/>
          </a:p>
        </p:txBody>
      </p:sp>
      <p:sp>
        <p:nvSpPr>
          <p:cNvPr id="391" name="Google Shape;391;p26"/>
          <p:cNvSpPr txBox="1"/>
          <p:nvPr/>
        </p:nvSpPr>
        <p:spPr>
          <a:xfrm>
            <a:off x="1390650" y="461560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Investment Tracking &amp; Reporting</a:t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1390650" y="508039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Blockchain Audit Layer (Simulation)</a:t>
            </a:r>
            <a:endParaRPr/>
          </a:p>
        </p:txBody>
      </p:sp>
      <p:sp>
        <p:nvSpPr>
          <p:cNvPr id="393" name="Google Shape;393;p26"/>
          <p:cNvSpPr txBox="1"/>
          <p:nvPr/>
        </p:nvSpPr>
        <p:spPr>
          <a:xfrm>
            <a:off x="7105650" y="2756445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Mobile Application</a:t>
            </a:r>
            <a:endParaRPr/>
          </a:p>
        </p:txBody>
      </p:sp>
      <p:sp>
        <p:nvSpPr>
          <p:cNvPr id="394" name="Google Shape;394;p26"/>
          <p:cNvSpPr txBox="1"/>
          <p:nvPr/>
        </p:nvSpPr>
        <p:spPr>
          <a:xfrm>
            <a:off x="7105650" y="3221235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Banking API Integration</a:t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7105650" y="368602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Real Payment Gateway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7105650" y="415081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AI Risk Assessment</a:t>
            </a:r>
            <a:endParaRPr/>
          </a:p>
        </p:txBody>
      </p:sp>
      <p:sp>
        <p:nvSpPr>
          <p:cNvPr id="397" name="Google Shape;397;p26"/>
          <p:cNvSpPr txBox="1"/>
          <p:nvPr/>
        </p:nvSpPr>
        <p:spPr>
          <a:xfrm>
            <a:off x="7105650" y="461560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BSEC Regulatory Compliance</a:t>
            </a:r>
            <a:endParaRPr/>
          </a:p>
        </p:txBody>
      </p:sp>
      <p:sp>
        <p:nvSpPr>
          <p:cNvPr id="398" name="Google Shape;398;p26"/>
          <p:cNvSpPr txBox="1"/>
          <p:nvPr/>
        </p:nvSpPr>
        <p:spPr>
          <a:xfrm>
            <a:off x="7105650" y="5080396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Live Hyperledger Deployment</a:t>
            </a:r>
            <a:endParaRPr/>
          </a:p>
        </p:txBody>
      </p:sp>
      <p:pic>
        <p:nvPicPr>
          <p:cNvPr descr="image.png" id="399" name="Google Shape;39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77549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24028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70507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416986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463465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50994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77549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24028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70507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16986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63465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5099446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5" name="Google Shape;4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146994"/>
            <a:ext cx="3429000" cy="3424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46994"/>
            <a:ext cx="3429000" cy="3424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146994"/>
            <a:ext cx="3429000" cy="342498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7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Expected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Impact</a:t>
            </a:r>
            <a:endParaRPr/>
          </a:p>
        </p:txBody>
      </p:sp>
      <p:pic>
        <p:nvPicPr>
          <p:cNvPr descr="image.png" id="420" name="Google Shape;42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48989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914400" y="3394769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SMEs</a:t>
            </a:r>
            <a:endParaRPr/>
          </a:p>
        </p:txBody>
      </p:sp>
      <p:pic>
        <p:nvPicPr>
          <p:cNvPr descr="image.png" id="422" name="Google Shape;4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9150" y="248989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7"/>
          <p:cNvSpPr txBox="1"/>
          <p:nvPr/>
        </p:nvSpPr>
        <p:spPr>
          <a:xfrm>
            <a:off x="4629150" y="3394769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Investors</a:t>
            </a:r>
            <a:endParaRPr/>
          </a:p>
        </p:txBody>
      </p:sp>
      <p:pic>
        <p:nvPicPr>
          <p:cNvPr descr="image.png" id="424" name="Google Shape;42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248989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8343900" y="3394769"/>
            <a:ext cx="308038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Bangladesh</a:t>
            </a:r>
            <a:endParaRPr/>
          </a:p>
        </p:txBody>
      </p:sp>
      <p:pic>
        <p:nvPicPr>
          <p:cNvPr descr="image.png" id="426" name="Google Shape;42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63276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7"/>
          <p:cNvSpPr txBox="1"/>
          <p:nvPr/>
        </p:nvSpPr>
        <p:spPr>
          <a:xfrm>
            <a:off x="1247775" y="383470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Access to ethical capital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1247775" y="429949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Greater business visibility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1247775" y="476428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Transparent opportunities</a:t>
            </a:r>
            <a:endParaRPr/>
          </a:p>
        </p:txBody>
      </p:sp>
      <p:pic>
        <p:nvPicPr>
          <p:cNvPr descr="image.png" id="430" name="Google Shape;43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63276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7"/>
          <p:cNvSpPr txBox="1"/>
          <p:nvPr/>
        </p:nvSpPr>
        <p:spPr>
          <a:xfrm>
            <a:off x="4962525" y="383470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Ethical investment options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4962525" y="429949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Portfolio diversification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4962525" y="476428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Secure digital records</a:t>
            </a:r>
            <a:endParaRPr/>
          </a:p>
        </p:txBody>
      </p:sp>
      <p:pic>
        <p:nvPicPr>
          <p:cNvPr descr="image.png" id="434" name="Google Shape;43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63276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7"/>
          <p:cNvSpPr txBox="1"/>
          <p:nvPr/>
        </p:nvSpPr>
        <p:spPr>
          <a:xfrm>
            <a:off x="8677275" y="383470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Financial inclusion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8677275" y="429949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Digital transformation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8677275" y="4764285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Ethical investment ecosystem</a:t>
            </a:r>
            <a:endParaRPr/>
          </a:p>
        </p:txBody>
      </p:sp>
      <p:pic>
        <p:nvPicPr>
          <p:cNvPr descr="image.png" id="438" name="Google Shape;438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385375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431854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478333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385375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431854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478333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385375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431854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478333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430910"/>
            <a:ext cx="2388840" cy="1331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9870" y="2337643"/>
            <a:ext cx="2388840" cy="1331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2991" y="4430910"/>
            <a:ext cx="2388840" cy="1331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6112" y="2337643"/>
            <a:ext cx="2388840" cy="133126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8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Project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Roadmap</a:t>
            </a:r>
            <a:endParaRPr/>
          </a:p>
        </p:txBody>
      </p:sp>
      <p:sp>
        <p:nvSpPr>
          <p:cNvPr id="457" name="Google Shape;457;p28"/>
          <p:cNvSpPr/>
          <p:nvPr/>
        </p:nvSpPr>
        <p:spPr>
          <a:xfrm>
            <a:off x="666750" y="4040385"/>
            <a:ext cx="108585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 txBox="1"/>
          <p:nvPr/>
        </p:nvSpPr>
        <p:spPr>
          <a:xfrm>
            <a:off x="817055" y="4630935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Sora SemiBold"/>
                <a:ea typeface="Sora SemiBold"/>
                <a:cs typeface="Sora SemiBold"/>
                <a:sym typeface="Sora SemiBold"/>
              </a:rPr>
              <a:t>Phase 1 &amp; 2</a:t>
            </a:r>
            <a:endParaRPr/>
          </a:p>
        </p:txBody>
      </p:sp>
      <p:sp>
        <p:nvSpPr>
          <p:cNvPr id="459" name="Google Shape;459;p28"/>
          <p:cNvSpPr txBox="1"/>
          <p:nvPr/>
        </p:nvSpPr>
        <p:spPr>
          <a:xfrm>
            <a:off x="866775" y="4935735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Research &amp; Design</a:t>
            </a:r>
            <a:endParaRPr/>
          </a:p>
        </p:txBody>
      </p:sp>
      <p:sp>
        <p:nvSpPr>
          <p:cNvPr id="460" name="Google Shape;460;p28"/>
          <p:cNvSpPr txBox="1"/>
          <p:nvPr/>
        </p:nvSpPr>
        <p:spPr>
          <a:xfrm>
            <a:off x="866775" y="5196631"/>
            <a:ext cx="198879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Requirements, Proposal, SRS, and UI/UX Prototyping.</a:t>
            </a:r>
            <a:endParaRPr/>
          </a:p>
        </p:txBody>
      </p:sp>
      <p:sp>
        <p:nvSpPr>
          <p:cNvPr id="461" name="Google Shape;461;p28"/>
          <p:cNvSpPr txBox="1"/>
          <p:nvPr/>
        </p:nvSpPr>
        <p:spPr>
          <a:xfrm>
            <a:off x="3640175" y="2537668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Sora SemiBold"/>
                <a:ea typeface="Sora SemiBold"/>
                <a:cs typeface="Sora SemiBold"/>
                <a:sym typeface="Sora SemiBold"/>
              </a:rPr>
              <a:t>Phase 3 &amp; 4</a:t>
            </a:r>
            <a:endParaRPr/>
          </a:p>
        </p:txBody>
      </p:sp>
      <p:sp>
        <p:nvSpPr>
          <p:cNvPr id="462" name="Google Shape;462;p28"/>
          <p:cNvSpPr txBox="1"/>
          <p:nvPr/>
        </p:nvSpPr>
        <p:spPr>
          <a:xfrm>
            <a:off x="3689895" y="2842468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Core Development</a:t>
            </a:r>
            <a:endParaRPr/>
          </a:p>
        </p:txBody>
      </p:sp>
      <p:sp>
        <p:nvSpPr>
          <p:cNvPr id="463" name="Google Shape;463;p28"/>
          <p:cNvSpPr txBox="1"/>
          <p:nvPr/>
        </p:nvSpPr>
        <p:spPr>
          <a:xfrm>
            <a:off x="3689895" y="3103364"/>
            <a:ext cx="198879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Backend APIs, Database schema, Frontend integration.</a:t>
            </a:r>
            <a:endParaRPr/>
          </a:p>
        </p:txBody>
      </p:sp>
      <p:sp>
        <p:nvSpPr>
          <p:cNvPr id="464" name="Google Shape;464;p28"/>
          <p:cNvSpPr txBox="1"/>
          <p:nvPr/>
        </p:nvSpPr>
        <p:spPr>
          <a:xfrm>
            <a:off x="6463296" y="4630935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Sora SemiBold"/>
                <a:ea typeface="Sora SemiBold"/>
                <a:cs typeface="Sora SemiBold"/>
                <a:sym typeface="Sora SemiBold"/>
              </a:rPr>
              <a:t>Phase 5 &amp; 6</a:t>
            </a:r>
            <a:endParaRPr/>
          </a:p>
        </p:txBody>
      </p:sp>
      <p:sp>
        <p:nvSpPr>
          <p:cNvPr id="465" name="Google Shape;465;p28"/>
          <p:cNvSpPr txBox="1"/>
          <p:nvPr/>
        </p:nvSpPr>
        <p:spPr>
          <a:xfrm>
            <a:off x="6513016" y="4935735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Security &amp; Audit</a:t>
            </a:r>
            <a:endParaRPr/>
          </a:p>
        </p:txBody>
      </p:sp>
      <p:sp>
        <p:nvSpPr>
          <p:cNvPr id="466" name="Google Shape;466;p28"/>
          <p:cNvSpPr txBox="1"/>
          <p:nvPr/>
        </p:nvSpPr>
        <p:spPr>
          <a:xfrm>
            <a:off x="6513016" y="5196631"/>
            <a:ext cx="198879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Authentication, Encryption, and Blockchain Audit Layer.</a:t>
            </a:r>
            <a:endParaRPr/>
          </a:p>
        </p:txBody>
      </p:sp>
      <p:sp>
        <p:nvSpPr>
          <p:cNvPr id="467" name="Google Shape;467;p28"/>
          <p:cNvSpPr txBox="1"/>
          <p:nvPr/>
        </p:nvSpPr>
        <p:spPr>
          <a:xfrm>
            <a:off x="9286417" y="2537668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Sora SemiBold"/>
                <a:ea typeface="Sora SemiBold"/>
                <a:cs typeface="Sora SemiBold"/>
                <a:sym typeface="Sora SemiBold"/>
              </a:rPr>
              <a:t>Phase 7 &amp; 8</a:t>
            </a:r>
            <a:endParaRPr/>
          </a:p>
        </p:txBody>
      </p:sp>
      <p:sp>
        <p:nvSpPr>
          <p:cNvPr id="468" name="Google Shape;468;p28"/>
          <p:cNvSpPr txBox="1"/>
          <p:nvPr/>
        </p:nvSpPr>
        <p:spPr>
          <a:xfrm>
            <a:off x="9336137" y="2842468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Launch Readiness</a:t>
            </a:r>
            <a:endParaRPr/>
          </a:p>
        </p:txBody>
      </p:sp>
      <p:sp>
        <p:nvSpPr>
          <p:cNvPr id="469" name="Google Shape;469;p28"/>
          <p:cNvSpPr txBox="1"/>
          <p:nvPr/>
        </p:nvSpPr>
        <p:spPr>
          <a:xfrm>
            <a:off x="9336137" y="3103364"/>
            <a:ext cx="198879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QA Testing, Deployment, and Final Presentation.</a:t>
            </a:r>
            <a:endParaRPr/>
          </a:p>
        </p:txBody>
      </p:sp>
      <p:sp>
        <p:nvSpPr>
          <p:cNvPr id="470" name="Google Shape;470;p28"/>
          <p:cNvSpPr/>
          <p:nvPr/>
        </p:nvSpPr>
        <p:spPr>
          <a:xfrm>
            <a:off x="1746870" y="39356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4569990" y="39356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7393111" y="39356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10216232" y="39356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81A36"/>
          </a:solidFill>
          <a:ln cap="flat" cmpd="sng" w="2857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8" name="Google Shape;47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209800"/>
            <a:ext cx="5286375" cy="3889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209800"/>
            <a:ext cx="5286375" cy="3889771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9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Vision for the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Future</a:t>
            </a:r>
            <a:endParaRPr/>
          </a:p>
        </p:txBody>
      </p:sp>
      <p:sp>
        <p:nvSpPr>
          <p:cNvPr id="482" name="Google Shape;482;p29"/>
          <p:cNvSpPr txBox="1"/>
          <p:nvPr/>
        </p:nvSpPr>
        <p:spPr>
          <a:xfrm>
            <a:off x="666750" y="1619250"/>
            <a:ext cx="9020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The MVP establishes a foundation that can be expanded into a production-ready financial platform.</a:t>
            </a:r>
            <a:endParaRPr/>
          </a:p>
        </p:txBody>
      </p:sp>
      <p:pic>
        <p:nvPicPr>
          <p:cNvPr descr="image.png" id="483" name="Google Shape;48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5527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9"/>
          <p:cNvSpPr txBox="1"/>
          <p:nvPr/>
        </p:nvSpPr>
        <p:spPr>
          <a:xfrm>
            <a:off x="914400" y="3457575"/>
            <a:ext cx="503062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Technical Expansion</a:t>
            </a:r>
            <a:endParaRPr/>
          </a:p>
        </p:txBody>
      </p:sp>
      <p:pic>
        <p:nvPicPr>
          <p:cNvPr descr="image.png" id="485" name="Google Shape;48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25527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9"/>
          <p:cNvSpPr txBox="1"/>
          <p:nvPr/>
        </p:nvSpPr>
        <p:spPr>
          <a:xfrm>
            <a:off x="6486525" y="3457575"/>
            <a:ext cx="503062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D7CFF"/>
                </a:solidFill>
                <a:latin typeface="Sora SemiBold"/>
                <a:ea typeface="Sora SemiBold"/>
                <a:cs typeface="Sora SemiBold"/>
                <a:sym typeface="Sora SemiBold"/>
              </a:rPr>
              <a:t>Ecosystem Integration</a:t>
            </a:r>
            <a:endParaRPr/>
          </a:p>
        </p:txBody>
      </p:sp>
      <p:pic>
        <p:nvPicPr>
          <p:cNvPr descr="image.png" id="487" name="Google Shape;48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4900" y="26955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9"/>
          <p:cNvSpPr txBox="1"/>
          <p:nvPr/>
        </p:nvSpPr>
        <p:spPr>
          <a:xfrm>
            <a:off x="1247775" y="3897510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Native iOS &amp; Android Mobile Applications</a:t>
            </a:r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1247775" y="4362301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Live Hyperledger Fabric Network Deployment</a:t>
            </a:r>
            <a:endParaRPr/>
          </a:p>
        </p:txBody>
      </p:sp>
      <p:sp>
        <p:nvSpPr>
          <p:cNvPr id="490" name="Google Shape;490;p29"/>
          <p:cNvSpPr txBox="1"/>
          <p:nvPr/>
        </p:nvSpPr>
        <p:spPr>
          <a:xfrm>
            <a:off x="1247775" y="4827091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AI-Based Risk Scoring and Credit Analytics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1247775" y="5291881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Automated Smart Contracts for Distribution</a:t>
            </a:r>
            <a:endParaRPr/>
          </a:p>
        </p:txBody>
      </p:sp>
      <p:pic>
        <p:nvPicPr>
          <p:cNvPr descr="image.png" id="492" name="Google Shape;49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6955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9"/>
          <p:cNvSpPr txBox="1"/>
          <p:nvPr/>
        </p:nvSpPr>
        <p:spPr>
          <a:xfrm>
            <a:off x="6819900" y="3897510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Direct Banking API &amp; Payment Gateway Integration</a:t>
            </a:r>
            <a:endParaRPr/>
          </a:p>
        </p:txBody>
      </p:sp>
      <p:sp>
        <p:nvSpPr>
          <p:cNvPr id="494" name="Google Shape;494;p29"/>
          <p:cNvSpPr txBox="1"/>
          <p:nvPr/>
        </p:nvSpPr>
        <p:spPr>
          <a:xfrm>
            <a:off x="6819900" y="4362301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BSEC Compliance and Regulatory Dashboards</a:t>
            </a:r>
            <a:endParaRPr/>
          </a:p>
        </p:txBody>
      </p:sp>
      <p:sp>
        <p:nvSpPr>
          <p:cNvPr id="495" name="Google Shape;495;p29"/>
          <p:cNvSpPr txBox="1"/>
          <p:nvPr/>
        </p:nvSpPr>
        <p:spPr>
          <a:xfrm>
            <a:off x="6819900" y="4827091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Multi-language Support for Rural Inclusion</a:t>
            </a:r>
            <a:endParaRPr/>
          </a:p>
        </p:txBody>
      </p:sp>
      <p:sp>
        <p:nvSpPr>
          <p:cNvPr id="496" name="Google Shape;496;p29"/>
          <p:cNvSpPr txBox="1"/>
          <p:nvPr/>
        </p:nvSpPr>
        <p:spPr>
          <a:xfrm>
            <a:off x="6819900" y="5291881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Regional Expansion beyond Urban Hubs</a:t>
            </a:r>
            <a:endParaRPr/>
          </a:p>
        </p:txBody>
      </p:sp>
      <p:pic>
        <p:nvPicPr>
          <p:cNvPr descr="image.png" id="497" name="Google Shape;497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391656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38135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84614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531093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91656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438135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484614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531093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9" name="Google Shape;5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0"/>
          <p:cNvSpPr txBox="1"/>
          <p:nvPr/>
        </p:nvSpPr>
        <p:spPr>
          <a:xfrm>
            <a:off x="66675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Acknowledging </a:t>
            </a:r>
            <a:r>
              <a:rPr b="1" i="0" lang="en-US" sz="315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Risks &amp; Challenges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6381750" y="2305198"/>
            <a:ext cx="5400675" cy="594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ora SemiBold"/>
                <a:ea typeface="Sora SemiBold"/>
                <a:cs typeface="Sora SemiBold"/>
                <a:sym typeface="Sora SemiBold"/>
              </a:rPr>
              <a:t>Building secure finance requires </a:t>
            </a:r>
            <a:r>
              <a:rPr b="0" i="0" lang="en-US" sz="1950" u="none" cap="none" strike="noStrike">
                <a:solidFill>
                  <a:srgbClr val="D4AF37"/>
                </a:solidFill>
                <a:latin typeface="Sora SemiBold"/>
                <a:ea typeface="Sora SemiBold"/>
                <a:cs typeface="Sora SemiBold"/>
                <a:sym typeface="Sora SemiBold"/>
              </a:rPr>
              <a:t>vigilance.</a:t>
            </a:r>
            <a:endParaRPr/>
          </a:p>
        </p:txBody>
      </p:sp>
      <p:pic>
        <p:nvPicPr>
          <p:cNvPr id="512" name="Google Shape;51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51100"/>
            <a:ext cx="6149400" cy="27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 txBox="1"/>
          <p:nvPr/>
        </p:nvSpPr>
        <p:spPr>
          <a:xfrm>
            <a:off x="6715125" y="3089820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Regulatory Compliance: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Navigating BSEC laws.</a:t>
            </a:r>
            <a:endParaRPr/>
          </a:p>
        </p:txBody>
      </p:sp>
      <p:sp>
        <p:nvSpPr>
          <p:cNvPr id="514" name="Google Shape;514;p30"/>
          <p:cNvSpPr txBox="1"/>
          <p:nvPr/>
        </p:nvSpPr>
        <p:spPr>
          <a:xfrm>
            <a:off x="6715125" y="3554610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Verification Accuracy: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Preventing identity/business fraud.</a:t>
            </a:r>
            <a:endParaRPr/>
          </a:p>
        </p:txBody>
      </p:sp>
      <p:sp>
        <p:nvSpPr>
          <p:cNvPr id="515" name="Google Shape;515;p30"/>
          <p:cNvSpPr txBox="1"/>
          <p:nvPr/>
        </p:nvSpPr>
        <p:spPr>
          <a:xfrm>
            <a:off x="6715125" y="4019401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User Adoption: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Building trust among traditional SMEs.</a:t>
            </a:r>
            <a:endParaRPr/>
          </a:p>
        </p:txBody>
      </p:sp>
      <p:sp>
        <p:nvSpPr>
          <p:cNvPr id="516" name="Google Shape;516;p30"/>
          <p:cNvSpPr txBox="1"/>
          <p:nvPr/>
        </p:nvSpPr>
        <p:spPr>
          <a:xfrm>
            <a:off x="6715125" y="4484191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Data Privacy: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Protecting sensitive financial documents.</a:t>
            </a:r>
            <a:endParaRPr/>
          </a:p>
        </p:txBody>
      </p:sp>
      <p:sp>
        <p:nvSpPr>
          <p:cNvPr id="517" name="Google Shape;517;p30"/>
          <p:cNvSpPr txBox="1"/>
          <p:nvPr/>
        </p:nvSpPr>
        <p:spPr>
          <a:xfrm>
            <a:off x="6715125" y="4948981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Dispute Resolution:</a:t>
            </a:r>
            <a:r>
              <a:rPr b="0" i="0" lang="en-US" sz="13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 Managing failed business outcomes.</a:t>
            </a:r>
            <a:endParaRPr/>
          </a:p>
        </p:txBody>
      </p:sp>
      <p:pic>
        <p:nvPicPr>
          <p:cNvPr descr="image.png" id="518" name="Google Shape;51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10887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7366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3845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50324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96803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7" name="Google Shape;52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5787" y="4092773"/>
            <a:ext cx="34004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1"/>
          <p:cNvSpPr txBox="1"/>
          <p:nvPr/>
        </p:nvSpPr>
        <p:spPr>
          <a:xfrm>
            <a:off x="2424175" y="5711950"/>
            <a:ext cx="734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Mehedi Hassan Bhuiyan | Dept. of Computer Science &amp; Engineering | University of Information Technology &amp; Sciences</a:t>
            </a:r>
            <a:endParaRPr/>
          </a:p>
        </p:txBody>
      </p:sp>
      <p:sp>
        <p:nvSpPr>
          <p:cNvPr id="530" name="Google Shape;530;p31"/>
          <p:cNvSpPr txBox="1"/>
          <p:nvPr/>
        </p:nvSpPr>
        <p:spPr>
          <a:xfrm>
            <a:off x="1445418" y="1907827"/>
            <a:ext cx="93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Questions </a:t>
            </a:r>
            <a:r>
              <a:rPr b="1" i="0" lang="en-US" sz="6000" u="none" cap="none" strike="noStrike">
                <a:solidFill>
                  <a:srgbClr val="D4AF37"/>
                </a:solidFill>
                <a:latin typeface="Sora"/>
                <a:ea typeface="Sora"/>
                <a:cs typeface="Sora"/>
                <a:sym typeface="Sora"/>
              </a:rPr>
              <a:t>&amp;</a:t>
            </a:r>
            <a:r>
              <a:rPr b="1" i="0" lang="en-US" sz="60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 Discussion</a:t>
            </a:r>
            <a:endParaRPr/>
          </a:p>
        </p:txBody>
      </p:sp>
      <p:sp>
        <p:nvSpPr>
          <p:cNvPr id="531" name="Google Shape;531;p31"/>
          <p:cNvSpPr txBox="1"/>
          <p:nvPr/>
        </p:nvSpPr>
        <p:spPr>
          <a:xfrm>
            <a:off x="4010025" y="3107977"/>
            <a:ext cx="4171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5CBD6"/>
                </a:solidFill>
                <a:latin typeface="Inter"/>
                <a:ea typeface="Inter"/>
                <a:cs typeface="Inter"/>
                <a:sym typeface="Inter"/>
              </a:rPr>
              <a:t>Thank you for your time and feedback.</a:t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5367337" y="4216598"/>
            <a:ext cx="145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Dikaios Amanah</a:t>
            </a:r>
            <a:endParaRPr sz="1300"/>
          </a:p>
        </p:txBody>
      </p:sp>
      <p:sp>
        <p:nvSpPr>
          <p:cNvPr id="533" name="Google Shape;533;p31"/>
          <p:cNvSpPr txBox="1"/>
          <p:nvPr/>
        </p:nvSpPr>
        <p:spPr>
          <a:xfrm>
            <a:off x="4786350" y="4508198"/>
            <a:ext cx="2619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Empowering Ethical SME Investment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